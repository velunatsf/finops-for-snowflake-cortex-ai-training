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73" r:id="rId3"/>
    <p:sldId id="272" r:id="rId4"/>
    <p:sldId id="258" r:id="rId5"/>
    <p:sldId id="261" r:id="rId6"/>
    <p:sldId id="259" r:id="rId7"/>
    <p:sldId id="260" r:id="rId8"/>
    <p:sldId id="262" r:id="rId9"/>
    <p:sldId id="263" r:id="rId10"/>
    <p:sldId id="264" r:id="rId11"/>
    <p:sldId id="265" r:id="rId12"/>
    <p:sldId id="266" r:id="rId13"/>
    <p:sldId id="271" r:id="rId14"/>
    <p:sldId id="267" r:id="rId15"/>
    <p:sldId id="268" r:id="rId16"/>
    <p:sldId id="270" r:id="rId17"/>
  </p:sldIdLst>
  <p:sldSz cx="12192000" cy="6858000"/>
  <p:notesSz cx="6858000" cy="9144000"/>
  <p:embeddedFontLst>
    <p:embeddedFont>
      <p:font typeface="Montserrat" panose="000005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3" roundtripDataSignature="AMtx7mgXJgl4xqdZDSxoo+rh88zjTHGBH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043"/>
    <p:restoredTop sz="94647"/>
  </p:normalViewPr>
  <p:slideViewPr>
    <p:cSldViewPr snapToGrid="0">
      <p:cViewPr varScale="1">
        <p:scale>
          <a:sx n="64" d="100"/>
          <a:sy n="64" d="100"/>
        </p:scale>
        <p:origin x="1098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customschemas.google.com/relationships/presentationmetadata" Target="meta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457200" marR="0" lvl="0" indent="-298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tabLst/>
              <a:defRPr/>
            </a:pPr>
            <a:r>
              <a:rPr lang="en-US" dirty="0"/>
              <a:t>#</a:t>
            </a:r>
            <a:r>
              <a:rPr lang="en-US" dirty="0" err="1"/>
              <a:t>DevOpsDays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498066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5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5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19" name="Google Shape;19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-613638" y="2230319"/>
            <a:ext cx="1997801" cy="11986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6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9893552" y="3219994"/>
            <a:ext cx="2912086" cy="1747252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2" name="Google Shape;22;p6"/>
          <p:cNvSpPr txBox="1">
            <a:spLocks noGrp="1"/>
          </p:cNvSpPr>
          <p:nvPr>
            <p:ph type="sldNum" idx="12"/>
          </p:nvPr>
        </p:nvSpPr>
        <p:spPr>
          <a:xfrm>
            <a:off x="5112026" y="636159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888888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#DevOpsDays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7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6" name="Google Shape;26;p7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7" name="Google Shape;27;p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8" name="Google Shape;28;p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29" name="Google Shape;29;p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8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8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3" name="Google Shape;33;p8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7" name="Google Shape;37;p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38" name="Google Shape;38;p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3" name="Google Shape;43;p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1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11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1" name="Google Shape;51;p11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2" name="Google Shape;52;p1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2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2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9" name="Google Shape;59;p1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0" name="Google Shape;60;p1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pic>
        <p:nvPicPr>
          <p:cNvPr id="8" name="Google Shape;8;p4" descr="A picture containing gear, transport, wheel, metalware&#10;&#10;Description automatically generate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039349" y="-690875"/>
            <a:ext cx="3791471" cy="2274882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;p4" descr="A picture containing gear, transport, wheel, metalware&#10;&#10;Description automatically generated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-1448321" y="5349562"/>
            <a:ext cx="4573042" cy="27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4"/>
          <p:cNvSpPr txBox="1">
            <a:spLocks noGrp="1"/>
          </p:cNvSpPr>
          <p:nvPr>
            <p:ph type="sldNum" idx="12"/>
          </p:nvPr>
        </p:nvSpPr>
        <p:spPr>
          <a:xfrm>
            <a:off x="4724400" y="6323931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4"/>
          <p:cNvSpPr txBox="1"/>
          <p:nvPr/>
        </p:nvSpPr>
        <p:spPr>
          <a:xfrm>
            <a:off x="10166683" y="6384587"/>
            <a:ext cx="197718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400" b="0" i="0" u="none" strike="noStrike" cap="none">
                <a:solidFill>
                  <a:schemeClr val="dk1"/>
                </a:solidFill>
                <a:latin typeface="Montserrat"/>
                <a:ea typeface="Montserrat"/>
                <a:cs typeface="Montserrat"/>
                <a:sym typeface="Montserrat"/>
              </a:rPr>
              <a:t>@DevOpsDaysRDU</a:t>
            </a:r>
            <a:endParaRPr sz="1400" b="0" i="0" u="none" strike="noStrike" cap="none">
              <a:solidFill>
                <a:schemeClr val="dk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2" name="Google Shape;12;p4" descr="A picture containing logo&#10;&#10;Description automatically generated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527656" y="4998368"/>
            <a:ext cx="1255242" cy="1325563"/>
          </a:xfrm>
          <a:prstGeom prst="rect">
            <a:avLst/>
          </a:prstGeom>
          <a:noFill/>
          <a:ln>
            <a:noFill/>
          </a:ln>
        </p:spPr>
      </p:pic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https://tinyurl.com/4fhaeb68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b="1" dirty="0"/>
              <a:t>FinOps for Snowflake Cortex (AI)</a:t>
            </a:r>
            <a:endParaRPr sz="4800" b="1" dirty="0">
              <a:solidFill>
                <a:srgbClr val="1A1A2E"/>
              </a:solidFill>
              <a:latin typeface="Montserra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400" b="1" dirty="0">
                <a:solidFill>
                  <a:srgbClr val="058DC7"/>
                </a:solidFill>
                <a:latin typeface="Montserrat"/>
              </a:rPr>
              <a:t>Cortex in Practice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274320"/>
            <a:ext cx="1737360" cy="18346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86000" y="45720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t>90 Minutes    |    9 Modules    |    Hands-On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5029200"/>
            <a:ext cx="7315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D561B"/>
                </a:solidFill>
                <a:latin typeface="Montserrat"/>
              </a:defRPr>
            </a:pPr>
            <a:r>
              <a:rPr dirty="0"/>
              <a:t>DEVOPSDAYS RALEIGH </a:t>
            </a:r>
            <a:r>
              <a:rPr lang="en-US" dirty="0"/>
              <a:t>-</a:t>
            </a:r>
            <a:r>
              <a:rPr dirty="0"/>
              <a:t> APR 30 - MAY 1,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440680"/>
            <a:ext cx="73152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333333"/>
                </a:solidFill>
                <a:latin typeface="Montserrat"/>
              </a:defRPr>
            </a:pPr>
            <a:r>
              <a:rPr b="1" dirty="0"/>
              <a:t>Velu Natarajan &amp; Krishnakumar Mohanram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EFEA9-68D8-B99F-36D3-E5EAD7221A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8043" y="3123315"/>
            <a:ext cx="10515600" cy="1325563"/>
          </a:xfrm>
        </p:spPr>
        <p:txBody>
          <a:bodyPr/>
          <a:lstStyle/>
          <a:p>
            <a:r>
              <a:rPr lang="en-US" dirty="0"/>
              <a:t>Workshop - </a:t>
            </a:r>
            <a:r>
              <a:rPr lang="en-US" dirty="0">
                <a:hlinkClick r:id="rId2"/>
              </a:rPr>
              <a:t>https://tinyurl.com/4fhaeb68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32801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11F2-5D04-87B4-9F73-0F640F74D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CE51DD-D4E5-D171-8BFB-ABC14BD43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8000" y="263526"/>
            <a:ext cx="10515600" cy="820208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Training Agenda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777CDE-77D5-861D-9DF5-4B80780E4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1999" y="1083733"/>
            <a:ext cx="9643533" cy="5223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1665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204259"/>
            <a:ext cx="10515600" cy="1325563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AI Is Now a Cost Center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371600"/>
            <a:ext cx="5029200" cy="25603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800" b="1" dirty="0">
                <a:solidFill>
                  <a:srgbClr val="058DC7"/>
                </a:solidFill>
                <a:latin typeface="Montserrat"/>
              </a:rPr>
              <a:t>Layer 1: Warehouse Compute</a:t>
            </a:r>
            <a:endParaRPr lang="en-US" sz="18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Traditional Snowflake billing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Based on warehouse size × time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Stops when warehouse suspends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0" y="1371600"/>
            <a:ext cx="5029200" cy="25603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800" b="1" dirty="0">
                <a:solidFill>
                  <a:srgbClr val="CC0000"/>
                </a:solidFill>
                <a:latin typeface="Montserrat"/>
              </a:rPr>
              <a:t>Layer 2: AI Token Credits</a:t>
            </a:r>
            <a:endParaRPr lang="en-US" sz="1800" b="1" dirty="0">
              <a:solidFill>
                <a:srgbClr val="CC0000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CC0000"/>
              </a:solidFill>
              <a:latin typeface="Montserrat"/>
            </a:endParaRP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New billing layer for Cortex AI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Based on tokens consumed per call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sz="1800" dirty="0">
                <a:solidFill>
                  <a:srgbClr val="333333"/>
                </a:solidFill>
                <a:latin typeface="Montserrat"/>
              </a:rPr>
              <a:t>▸ Does NOT stop on suspend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C822B3B-7F4E-62DC-0BF2-AC34CA96550C}"/>
              </a:ext>
            </a:extLst>
          </p:cNvPr>
          <p:cNvSpPr/>
          <p:nvPr/>
        </p:nvSpPr>
        <p:spPr>
          <a:xfrm>
            <a:off x="707814" y="4184861"/>
            <a:ext cx="10447866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Montserrat"/>
              </a:rPr>
              <a:t>A misconfigured COMPLETE() loop across 1M rows can exceed a week of warehouse compute in minutes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9723"/>
            <a:ext cx="10515600" cy="64071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Token Economics &amp; Shadow Waste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01 </a:t>
            </a:r>
            <a:r>
              <a:rPr lang="en-US" dirty="0"/>
              <a:t>-</a:t>
            </a:r>
            <a:r>
              <a:rPr dirty="0"/>
              <a:t> From tokens to dollars, and where savings hide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27432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Token Cost Estimator</a:t>
            </a:r>
            <a:endParaRPr lang="en-US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Estimate daily/monthly credit burn per model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Formula: rows ×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avg_tokens</a:t>
            </a:r>
            <a:r>
              <a:rPr dirty="0">
                <a:solidFill>
                  <a:srgbClr val="333333"/>
                </a:solidFill>
                <a:latin typeface="Montserrat"/>
              </a:rPr>
              <a:t> ÷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tokens_per_credit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Dollar projection at $3/credit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Same 10K rows: mistral-7b = 0.001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r>
              <a:rPr dirty="0">
                <a:solidFill>
                  <a:srgbClr val="333333"/>
                </a:solidFill>
                <a:latin typeface="Montserrat"/>
              </a:rPr>
              <a:t> vs claude-3-5-sonnet = 0.075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Interactive calculator in Module 01 Section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8DC7"/>
                </a:solidFill>
                <a:latin typeface="Montserrat"/>
              </a:defRPr>
            </a:pPr>
            <a:r>
              <a:t>Shadow Waste Savings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8426179"/>
              </p:ext>
            </p:extLst>
          </p:nvPr>
        </p:nvGraphicFramePr>
        <p:xfrm>
          <a:off x="6126480" y="1920240"/>
          <a:ext cx="50292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Task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COMPLETE()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Specialized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Savings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Sentiment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0.30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0.02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93%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Translate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0.45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0.05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89%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Classify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0.30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0.03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90%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Extract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0.30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0.04 cr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87%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126480" y="4023360"/>
            <a:ext cx="50292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ED561B"/>
                </a:solidFill>
                <a:latin typeface="Montserrat"/>
              </a:defRPr>
            </a:pPr>
            <a:r>
              <a:rPr sz="1200" dirty="0"/>
              <a:t>Using COMPLETE() for tasks with specialized functions is the #1 source of shadow waste.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A7D1158E-D718-2C6D-8704-3FEF99FADA13}"/>
              </a:ext>
            </a:extLst>
          </p:cNvPr>
          <p:cNvSpPr/>
          <p:nvPr/>
        </p:nvSpPr>
        <p:spPr>
          <a:xfrm>
            <a:off x="1295399" y="4728951"/>
            <a:ext cx="8983133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>
                <a:solidFill>
                  <a:srgbClr val="FFFFFF"/>
                </a:solidFill>
                <a:latin typeface="Montserrat"/>
              </a:rPr>
              <a:t>Shadow Waste = AI credit consumption that delivers little or no business value.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/>
          <p:cNvSpPr/>
          <p:nvPr/>
        </p:nvSpPr>
        <p:spPr>
          <a:xfrm>
            <a:off x="6126480" y="3657600"/>
            <a:ext cx="5029200" cy="1920240"/>
          </a:xfrm>
          <a:prstGeom prst="roundRect">
            <a:avLst/>
          </a:prstGeom>
          <a:solidFill>
            <a:srgbClr val="F3F3F3"/>
          </a:solidFill>
          <a:ln w="9525">
            <a:solidFill>
              <a:schemeClr val="bg1">
                <a:lumMod val="85000"/>
              </a:scheme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Cortex Code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Natural language → SQL generation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CLI +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Snowsight</a:t>
            </a:r>
            <a:r>
              <a:rPr dirty="0">
                <a:solidFill>
                  <a:srgbClr val="333333"/>
                </a:solidFill>
                <a:latin typeface="Montserrat"/>
              </a:rPr>
              <a:t> · Agentic workflows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Own SERVICE_TYPEs for cost tracking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64808"/>
            <a:ext cx="10515600" cy="64071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Cortex AI Capability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02 </a:t>
            </a:r>
            <a:r>
              <a:rPr lang="en-US" dirty="0"/>
              <a:t>-</a:t>
            </a:r>
            <a:r>
              <a:rPr dirty="0"/>
              <a:t> Four categories of AI in Snowflake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92024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LLM Functions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COMPLETE()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General LLM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SENTIMENT()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Lowest cost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SUMMARIZE() · TRANSLATE()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CLASSIFY_TEXT() · EXTRACT_ANSWER()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92024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Search &amp; Embed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Cortex Search (standing cost)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EMBED_TEXT_768() / 1024()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Cortex Analyst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5029200" cy="192024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b="1" dirty="0">
                <a:solidFill>
                  <a:srgbClr val="058DC7"/>
                </a:solidFill>
                <a:latin typeface="Montserrat"/>
              </a:rPr>
              <a:t>ML Functions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FORECAST() · ANOMALY_DETECTION()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CLASSIFICATION()</a:t>
            </a:r>
          </a:p>
          <a:p>
            <a:pPr>
              <a:spcBef>
                <a:spcPts val="6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CONTRIBUTION_EXPLORER()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4E642C18-65C0-2556-7742-6706BFD8CDAB}"/>
              </a:ext>
            </a:extLst>
          </p:cNvPr>
          <p:cNvSpPr/>
          <p:nvPr/>
        </p:nvSpPr>
        <p:spPr>
          <a:xfrm>
            <a:off x="1177713" y="5852160"/>
            <a:ext cx="8983133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/>
              <a:t>Strategy: Start with specialized functions before reaching for COMPLETE(). They are optimized and cheaper</a:t>
            </a:r>
            <a:endParaRPr lang="en-US" b="1" dirty="0">
              <a:solidFill>
                <a:srgbClr val="FFFFFF"/>
              </a:solidFill>
              <a:latin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4840" y="360545"/>
            <a:ext cx="10515600" cy="760942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Model Cost Tiers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Same task, different models = 10-50x cost difference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3383280" cy="2493496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50B4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lang="en-US" sz="1600" b="1" dirty="0">
                <a:solidFill>
                  <a:srgbClr val="50B432"/>
                </a:solidFill>
                <a:latin typeface="Montserrat"/>
              </a:rPr>
              <a:t>Budget</a:t>
            </a:r>
          </a:p>
          <a:p>
            <a:pPr algn="ctr">
              <a:spcAft>
                <a:spcPts val="400"/>
              </a:spcAft>
            </a:pPr>
            <a:endParaRPr lang="en-US" sz="1300" b="1" dirty="0">
              <a:solidFill>
                <a:srgbClr val="50B432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mistral-7b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8.3M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llama3-8b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5.3M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gemma-7b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 -</a:t>
            </a:r>
            <a:r>
              <a:rPr dirty="0">
                <a:solidFill>
                  <a:srgbClr val="333333"/>
                </a:solidFill>
                <a:latin typeface="Montserrat"/>
              </a:rPr>
              <a:t> 8.3M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92480" y="3556025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0B432"/>
                </a:solidFill>
                <a:latin typeface="Montserrat"/>
              </a:defRPr>
            </a:pPr>
            <a:r>
              <a:rPr sz="1200" dirty="0"/>
              <a:t>Extraction, classification, high volume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91000" y="1463040"/>
            <a:ext cx="3383280" cy="2493496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600" b="1" dirty="0">
                <a:solidFill>
                  <a:srgbClr val="058DC7"/>
                </a:solidFill>
                <a:latin typeface="Montserrat"/>
              </a:rPr>
              <a:t>Standard</a:t>
            </a:r>
            <a:endParaRPr lang="en-US" sz="16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llama3-70b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826K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mixtral-8x7b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4.5M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snowflake-arctic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1.2M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419601" y="3556024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058DC7"/>
                </a:solidFill>
                <a:latin typeface="Montserrat"/>
              </a:defRPr>
            </a:pPr>
            <a:r>
              <a:rPr sz="1200" dirty="0"/>
              <a:t>Complex</a:t>
            </a:r>
            <a:r>
              <a:rPr dirty="0"/>
              <a:t> </a:t>
            </a:r>
            <a:r>
              <a:rPr sz="1200" dirty="0"/>
              <a:t>reasoning, nuanced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463040"/>
            <a:ext cx="3383280" cy="2493496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600" b="1" dirty="0">
                <a:solidFill>
                  <a:srgbClr val="CC0000"/>
                </a:solidFill>
                <a:latin typeface="Montserrat"/>
              </a:rPr>
              <a:t>Premium</a:t>
            </a:r>
            <a:endParaRPr lang="en-US" sz="1600" b="1" dirty="0">
              <a:solidFill>
                <a:srgbClr val="CC0000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CC0000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</a:t>
            </a:r>
            <a:r>
              <a:rPr sz="1000" dirty="0">
                <a:solidFill>
                  <a:srgbClr val="333333"/>
                </a:solidFill>
                <a:latin typeface="Montserrat"/>
              </a:rPr>
              <a:t> </a:t>
            </a:r>
            <a:r>
              <a:rPr dirty="0">
                <a:solidFill>
                  <a:srgbClr val="333333"/>
                </a:solidFill>
                <a:latin typeface="Montserrat"/>
              </a:rPr>
              <a:t>claude-3-5-sonnet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667K/133K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llama3.1-405b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333K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mistral-large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-</a:t>
            </a:r>
            <a:r>
              <a:rPr dirty="0">
                <a:solidFill>
                  <a:srgbClr val="333333"/>
                </a:solidFill>
                <a:latin typeface="Montserrat"/>
              </a:rPr>
              <a:t> 196K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tok</a:t>
            </a:r>
            <a:r>
              <a:rPr dirty="0">
                <a:solidFill>
                  <a:srgbClr val="333333"/>
                </a:solidFill>
                <a:latin typeface="Montserrat"/>
              </a:rPr>
              <a:t>/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cr</a:t>
            </a: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lang="en-US" dirty="0">
              <a:solidFill>
                <a:srgbClr val="333333"/>
              </a:solidFill>
              <a:latin typeface="Montserrat"/>
            </a:endParaRPr>
          </a:p>
          <a:p>
            <a:pPr>
              <a:spcBef>
                <a:spcPts val="100"/>
              </a:spcBef>
              <a:spcAft>
                <a:spcPts val="100"/>
              </a:spcAft>
            </a:pP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54340" y="3556024"/>
            <a:ext cx="32004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C0000"/>
                </a:solidFill>
                <a:latin typeface="Montserrat"/>
              </a:defRPr>
            </a:pPr>
            <a:r>
              <a:rPr sz="1200" dirty="0"/>
              <a:t>Highest quality, coding, long-form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74B864EB-4991-BC20-E76E-61F9C8157259}"/>
              </a:ext>
            </a:extLst>
          </p:cNvPr>
          <p:cNvSpPr/>
          <p:nvPr/>
        </p:nvSpPr>
        <p:spPr>
          <a:xfrm>
            <a:off x="1186950" y="4623723"/>
            <a:ext cx="8983133" cy="691939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en-US" b="1" dirty="0"/>
              <a:t>The right model is the cheapest one that meets your quality bar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9088"/>
            <a:ext cx="10515600" cy="73215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Environment Setup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Modules 03-04 </a:t>
            </a:r>
            <a:r>
              <a:rPr lang="en-US" dirty="0"/>
              <a:t>-</a:t>
            </a:r>
            <a:r>
              <a:rPr dirty="0"/>
              <a:t> Cortex Code CLI + Governed Lab Environment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25603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Cortex Code CLI (Module 03)</a:t>
            </a:r>
            <a:endParaRPr lang="en-US" sz="13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Install via curl or PowerShell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Connect to Snowflake account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First prompt: natural language → SQL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Commands: /status, /help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25603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Lab Environment (Module 04)</a:t>
            </a:r>
            <a:endParaRPr lang="en-US" sz="1300" b="1" dirty="0">
              <a:solidFill>
                <a:srgbClr val="058DC7"/>
              </a:solidFill>
              <a:latin typeface="Montserrat"/>
            </a:endParaRPr>
          </a:p>
          <a:p>
            <a:pPr algn="ctr">
              <a:spcAft>
                <a:spcPts val="400"/>
              </a:spcAft>
            </a:pPr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Database: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cortex_lab</a:t>
            </a:r>
            <a:r>
              <a:rPr dirty="0">
                <a:solidFill>
                  <a:srgbClr val="333333"/>
                </a:solidFill>
                <a:latin typeface="Montserrat"/>
              </a:rPr>
              <a:t> · Schema: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ai_workshop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Warehouse: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cortex_wh</a:t>
            </a:r>
            <a:r>
              <a:rPr dirty="0">
                <a:solidFill>
                  <a:srgbClr val="333333"/>
                </a:solidFill>
                <a:latin typeface="Montserrat"/>
              </a:rPr>
              <a:t> (SMALL, 60s suspend)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Resource Monitor: 50 credits, 90% suspend</a:t>
            </a: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Role: </a:t>
            </a:r>
            <a:r>
              <a:rPr dirty="0" err="1">
                <a:solidFill>
                  <a:srgbClr val="333333"/>
                </a:solidFill>
                <a:latin typeface="Montserrat"/>
              </a:rPr>
              <a:t>cortex_analyst</a:t>
            </a:r>
            <a:endParaRPr dirty="0">
              <a:solidFill>
                <a:srgbClr val="333333"/>
              </a:solidFill>
              <a:latin typeface="Montserrat"/>
            </a:endParaRPr>
          </a:p>
          <a:p>
            <a:pPr>
              <a:lnSpc>
                <a:spcPct val="150000"/>
              </a:lnSpc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Sample: </a:t>
            </a:r>
            <a:r>
              <a:rPr lang="en-US" dirty="0">
                <a:solidFill>
                  <a:srgbClr val="333333"/>
                </a:solidFill>
                <a:latin typeface="Montserrat"/>
              </a:rPr>
              <a:t>TPCH data</a:t>
            </a:r>
            <a:endParaRPr dirty="0">
              <a:solidFill>
                <a:srgbClr val="333333"/>
              </a:solidFill>
              <a:latin typeface="Montserrat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84C8EBA7-9EE7-F832-2DC0-0004F54D53D2}"/>
              </a:ext>
            </a:extLst>
          </p:cNvPr>
          <p:cNvSpPr/>
          <p:nvPr/>
        </p:nvSpPr>
        <p:spPr>
          <a:xfrm>
            <a:off x="1510222" y="4466343"/>
            <a:ext cx="89831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The </a:t>
            </a:r>
            <a:r>
              <a:rPr lang="en-US" dirty="0">
                <a:solidFill>
                  <a:schemeClr val="tx1"/>
                </a:solidFill>
                <a:latin typeface="Montserrat"/>
              </a:rPr>
              <a:t>Resource Monitor guards warehouse compute credits, not AI token credits.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AI credits are billed separately.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Use Budgets and METERING_DAILY_HISTORY to track AI spend</a:t>
            </a:r>
            <a:r>
              <a:rPr lang="en-US" dirty="0">
                <a:solidFill>
                  <a:srgbClr val="CC0000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39408"/>
            <a:ext cx="10515600" cy="718608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AI SQL Hands-On 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05 </a:t>
            </a:r>
            <a:r>
              <a:rPr lang="en-US" dirty="0"/>
              <a:t>-</a:t>
            </a:r>
            <a:r>
              <a:rPr dirty="0"/>
              <a:t> Run Cortex functions and compare costs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3716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1: SENTIMENT()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Analyze customer feedback sentiment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No model param needed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3716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2: CLASSIFY_TEXT()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Route feedback to support teams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Zero-shot classification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08960"/>
            <a:ext cx="5029200" cy="13716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3: COMPLETE()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Extract structured info from text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Using budget model mistral-7b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108960"/>
            <a:ext cx="5029200" cy="137160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CC0000"/>
                </a:solidFill>
                <a:latin typeface="Montserrat"/>
              </a:rPr>
              <a:t>Ex 4: Model Cost Comparison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Same prompt, 3 models: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mistral-7b vs llama3-70b vs claude-3-5-sonnet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745672" y="4754880"/>
            <a:ext cx="8562109" cy="91440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Ex 5: Scale Simulation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dirty="0">
                <a:solidFill>
                  <a:srgbClr val="333333"/>
                </a:solidFill>
                <a:latin typeface="Montserrat"/>
              </a:rPr>
              <a:t>▸ Test on 5 rows → measure cost → project to 500K rows → decide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4007"/>
            <a:ext cx="10515600" cy="735542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Token &amp; Credit Usage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06 </a:t>
            </a:r>
            <a:r>
              <a:rPr lang="en-US" dirty="0"/>
              <a:t>-</a:t>
            </a:r>
            <a:r>
              <a:rPr dirty="0"/>
              <a:t> Your real-time FinOps console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09728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Q1–Q5: Core Tracking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AI credits by function, model, hour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Cost projection from dedicated views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09728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Q6: Idle Search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Search indexing with zero queries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100% waste (Transition → Module 07)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4320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Q7: Over-Sized Models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credits_per_1M_tokens metric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Find where cheaper models suffice (40–75% savings)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74320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Q8–Q9: Redundant Calls &amp; Prompt Bloat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Duplicate pipelines detected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Rising avg tokens/call over time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02336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Q10–Q11: Agent Loops &amp; Dev in Prod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MAX vs AVG credit gap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LATERAL FLATTEN(ROLE_NAMES)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4023360"/>
            <a:ext cx="5029200" cy="109728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Q12–Q13: Anomaly &amp; Attribution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WoW LAG(7) spike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Tagged vs untagged spend ratio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64008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1">
                <a:solidFill>
                  <a:srgbClr val="666666"/>
                </a:solidFill>
                <a:latin typeface="Montserrat"/>
              </a:defRPr>
            </a:pPr>
            <a:r>
              <a:t>#DevOpsDays</a:t>
            </a:r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B77A33F7-53F7-125D-4B70-7492B6EC7DBB}"/>
              </a:ext>
            </a:extLst>
          </p:cNvPr>
          <p:cNvSpPr/>
          <p:nvPr/>
        </p:nvSpPr>
        <p:spPr>
          <a:xfrm>
            <a:off x="1500985" y="5296411"/>
            <a:ext cx="89831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Shadow Waste: Detect patterns of hidden AI credit drain.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AI services are serverless - no warehouse to watch, no query fails. Credits silently accumulate.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200" y="365125"/>
            <a:ext cx="10515600" cy="64071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AI Credits Transition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07 </a:t>
            </a:r>
            <a:r>
              <a:rPr lang="en-US" dirty="0"/>
              <a:t>-</a:t>
            </a:r>
            <a:r>
              <a:rPr dirty="0"/>
              <a:t> New SERVICE_TYPE billing you need to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D561B"/>
                </a:solidFill>
                <a:latin typeface="Montserrat"/>
              </a:defRPr>
            </a:pPr>
            <a:r>
              <a:t>4 New SERVICE_TYPEs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3899748"/>
              </p:ext>
            </p:extLst>
          </p:nvPr>
        </p:nvGraphicFramePr>
        <p:xfrm>
          <a:off x="640080" y="1920240"/>
          <a:ext cx="50292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SERVICE_TYPE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Description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CORTEX_AGENTS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Agentic AI workflows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CORTEX_CODE_CLI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 Code CLI usage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CORTEX_CODE_SNOWSIGHT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 Code in browser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SNOWFLAKE_INTELLIGENCE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Snowflake Intelligence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126480" y="146304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58DC7"/>
                </a:solidFill>
                <a:latin typeface="Montserrat"/>
              </a:defRPr>
            </a:pPr>
            <a:r>
              <a:t>Detection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20240"/>
            <a:ext cx="5029200" cy="2169825"/>
          </a:xfrm>
          <a:prstGeom prst="rect">
            <a:avLst/>
          </a:prstGeom>
          <a:solidFill>
            <a:srgbClr val="1A1A2E"/>
          </a:solidFill>
          <a:ln w="12700">
            <a:solidFill>
              <a:srgbClr val="444466"/>
            </a:solidFill>
          </a:ln>
        </p:spPr>
        <p:txBody>
          <a:bodyPr wrap="square" lIns="137160" tIns="91440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SELECT SERVICE_TYPE,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    SUM(CREDITS_USED) AS credits,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    credits * 3 AS </a:t>
            </a:r>
            <a:r>
              <a:rPr sz="1200" dirty="0" err="1">
                <a:solidFill>
                  <a:srgbClr val="E2E8F0"/>
                </a:solidFill>
                <a:latin typeface="Courier New"/>
              </a:rPr>
              <a:t>est_cost</a:t>
            </a:r>
            <a:endParaRPr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FROM SNOWFLAKE.ACCOUNT_USAGE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 .METERING_DAILY_HISTORY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WHERE SERVICE_TYPE LIKE 'CORTEX%'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   OR SERVICE_TYPE = 'SNOWFLAKE_INTELLIGENCE'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200" dirty="0">
                <a:solidFill>
                  <a:srgbClr val="E2E8F0"/>
                </a:solidFill>
                <a:latin typeface="Courier New"/>
              </a:rPr>
              <a:t>GROUP BY 1 ORDER BY 2 DESC;</a:t>
            </a:r>
            <a:endParaRPr lang="en-US"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E2E8F0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endParaRPr lang="en-US" sz="1200" dirty="0">
              <a:solidFill>
                <a:srgbClr val="E2E8F0"/>
              </a:solidFill>
              <a:latin typeface="Courier New"/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0BC559E3-951D-5C42-440A-64E7E4A81361}"/>
              </a:ext>
            </a:extLst>
          </p:cNvPr>
          <p:cNvSpPr/>
          <p:nvPr/>
        </p:nvSpPr>
        <p:spPr>
          <a:xfrm>
            <a:off x="1477433" y="4610612"/>
            <a:ext cx="89831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These credits appear in METERING_DAILY_HISTORY but NOT in CORTEX_AI_FUNCTIONS_USAGE_HISTORY. </a:t>
            </a:r>
          </a:p>
          <a:p>
            <a:pPr marL="171450" indent="-171450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You must check both views for complete AI cost visibility.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19405"/>
            <a:ext cx="10515600" cy="823595"/>
          </a:xfrm>
        </p:spPr>
        <p:txBody>
          <a:bodyPr/>
          <a:lstStyle/>
          <a:p>
            <a:r>
              <a:rPr sz="2800" b="1" dirty="0" err="1">
                <a:solidFill>
                  <a:srgbClr val="058DC7"/>
                </a:solidFill>
                <a:latin typeface="Montserrat"/>
              </a:rPr>
              <a:t>Streamlit</a:t>
            </a:r>
            <a:r>
              <a:rPr sz="2800" b="1" dirty="0">
                <a:solidFill>
                  <a:srgbClr val="058DC7"/>
                </a:solidFill>
                <a:latin typeface="Montserrat"/>
              </a:rPr>
              <a:t> FinOps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08 </a:t>
            </a:r>
            <a:r>
              <a:rPr lang="en-US" dirty="0"/>
              <a:t>- </a:t>
            </a:r>
            <a:r>
              <a:rPr dirty="0"/>
              <a:t>Build with Cortex Code, deploy to Snowflake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46304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DDD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KPI + Visualizations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Total Queries, Credits, Avg/Call, Users, Est. $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Hourly Trend · Function Breakdown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Model Cost Comparison · Top Expensive Queries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CC0000"/>
                </a:solidFill>
                <a:latin typeface="Montserrat"/>
              </a:rPr>
              <a:t>Attribution Coverage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Tagged vs Untagged donut chart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% coverage metric (target: &gt;90%)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CC0000"/>
                </a:solidFill>
                <a:latin typeface="Montserrat"/>
              </a:rPr>
              <a:t>WoW Anomaly Detection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Daily spend vs same day last week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Color-coded: &gt;50% yellow, &gt;200% 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3383280"/>
            <a:ext cx="5029200" cy="164592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>
              <a:spcAft>
                <a:spcPts val="400"/>
              </a:spcAft>
            </a:pPr>
            <a:r>
              <a:rPr sz="1300" b="1" dirty="0">
                <a:solidFill>
                  <a:srgbClr val="058DC7"/>
                </a:solidFill>
                <a:latin typeface="Montserrat"/>
              </a:rPr>
              <a:t>Sample Dashboard Output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CSS mockup preview in Module 08 Section C</a:t>
            </a:r>
          </a:p>
          <a:p>
            <a:pPr>
              <a:spcBef>
                <a:spcPts val="100"/>
              </a:spcBef>
              <a:spcAft>
                <a:spcPts val="100"/>
              </a:spcAft>
            </a:pPr>
            <a:r>
              <a:rPr sz="1200" dirty="0">
                <a:solidFill>
                  <a:srgbClr val="333333"/>
                </a:solidFill>
                <a:latin typeface="Montserrat"/>
              </a:rPr>
              <a:t>▸ 5 KPI cards · Donut · Area chart · Cost grid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2F95F2CC-FE41-48F9-CFBE-B55CEC6B89AB}"/>
              </a:ext>
            </a:extLst>
          </p:cNvPr>
          <p:cNvSpPr/>
          <p:nvPr/>
        </p:nvSpPr>
        <p:spPr>
          <a:xfrm>
            <a:off x="1488595" y="5394960"/>
            <a:ext cx="8983133" cy="60790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>
              <a:spcBef>
                <a:spcPts val="600"/>
              </a:spcBef>
            </a:pPr>
            <a:r>
              <a:rPr lang="en-US" b="1" dirty="0">
                <a:solidFill>
                  <a:srgbClr val="1A1A2E"/>
                </a:solidFill>
                <a:latin typeface="Montserrat"/>
              </a:rPr>
              <a:t>Deploy: </a:t>
            </a:r>
            <a:r>
              <a:rPr lang="en-US" b="1" dirty="0" err="1">
                <a:solidFill>
                  <a:srgbClr val="1A1A2E"/>
                </a:solidFill>
                <a:latin typeface="Montserrat"/>
              </a:rPr>
              <a:t>Snowsight</a:t>
            </a:r>
            <a:r>
              <a:rPr lang="en-US" b="1" dirty="0">
                <a:solidFill>
                  <a:srgbClr val="1A1A2E"/>
                </a:solidFill>
                <a:latin typeface="Montserrat"/>
              </a:rPr>
              <a:t> → Projects → </a:t>
            </a:r>
            <a:r>
              <a:rPr lang="en-US" b="1" dirty="0" err="1">
                <a:solidFill>
                  <a:srgbClr val="1A1A2E"/>
                </a:solidFill>
                <a:latin typeface="Montserrat"/>
              </a:rPr>
              <a:t>Streamlit</a:t>
            </a:r>
            <a:r>
              <a:rPr lang="en-US" b="1" dirty="0">
                <a:solidFill>
                  <a:srgbClr val="1A1A2E"/>
                </a:solidFill>
                <a:latin typeface="Montserrat"/>
              </a:rPr>
              <a:t> → + </a:t>
            </a:r>
            <a:r>
              <a:rPr lang="en-US" b="1" dirty="0" err="1">
                <a:solidFill>
                  <a:srgbClr val="1A1A2E"/>
                </a:solidFill>
                <a:latin typeface="Montserrat"/>
              </a:rPr>
              <a:t>Streamlit</a:t>
            </a:r>
            <a:r>
              <a:rPr lang="en-US" b="1" dirty="0">
                <a:solidFill>
                  <a:srgbClr val="1A1A2E"/>
                </a:solidFill>
                <a:latin typeface="Montserrat"/>
              </a:rPr>
              <a:t> App → Paste code → Run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4738BE-38F1-A558-16BA-E2BF850129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411359"/>
            <a:ext cx="7772400" cy="60352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7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8800" y="365125"/>
            <a:ext cx="10515600" cy="82359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Quick Reference: 5 ACCOUNT_USAGE Views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5156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666666"/>
                </a:solidFill>
                <a:latin typeface="Montserrat"/>
              </a:defRPr>
            </a:pPr>
            <a:r>
              <a:rPr dirty="0"/>
              <a:t>Module 09 </a:t>
            </a:r>
            <a:r>
              <a:rPr lang="en-US" dirty="0"/>
              <a:t>-</a:t>
            </a:r>
            <a:r>
              <a:rPr dirty="0"/>
              <a:t> The views you need for complete AI cost visibility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7224606"/>
              </p:ext>
            </p:extLst>
          </p:nvPr>
        </p:nvGraphicFramePr>
        <p:xfrm>
          <a:off x="640080" y="146304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1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34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View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>
                          <a:solidFill>
                            <a:schemeClr val="bg1"/>
                          </a:solidFill>
                        </a:rPr>
                        <a:t>Tracks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58DC7"/>
                          </a:solidFill>
                          <a:latin typeface="Montserrat"/>
                        </a:defRPr>
                      </a:pPr>
                      <a:r>
                        <a:rPr sz="1200" dirty="0">
                          <a:solidFill>
                            <a:schemeClr val="bg1"/>
                          </a:solidFill>
                        </a:rPr>
                        <a:t>Key Columns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CORTEX_AI_FUNCTIONS_USAGE_HISTORY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LLM / task functions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FUNCTION_NAME, MODEL_NAME, CREDITS, USER_ID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CORTEX_AISQL_USAGE_HISTORY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AI SQL tokens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TOKENS, TOKEN_CREDITS, QUERY_TAG, USER_ID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DOCUMENT_AI_USAGE_HISTORY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Document AI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CREDITS_USED, PAGE_COUNT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CORTEX_SEARCH_DAILY_USAGE_HISTORY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Search services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SERVICE_NAME, CREDITS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34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METERING_DAILY_HISTORY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/>
                        <a:t>All SERVICE_TYPEs</a:t>
                      </a:r>
                    </a:p>
                  </a:txBody>
                  <a:tcPr marL="45720" marR="45720" marT="18288" marB="18288" anchor="ctr"/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333333"/>
                          </a:solidFill>
                          <a:latin typeface="Montserrat"/>
                        </a:defRPr>
                      </a:pPr>
                      <a:r>
                        <a:rPr sz="1200" dirty="0"/>
                        <a:t>SERVICE_TYPE, CREDITS_BILLED</a:t>
                      </a:r>
                    </a:p>
                  </a:txBody>
                  <a:tcPr marL="45720" marR="45720" marT="18288" marB="18288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062FA053-7EDF-7ECA-D03F-F7B94791397C}"/>
              </a:ext>
            </a:extLst>
          </p:cNvPr>
          <p:cNvSpPr/>
          <p:nvPr/>
        </p:nvSpPr>
        <p:spPr>
          <a:xfrm>
            <a:off x="2159000" y="5039325"/>
            <a:ext cx="7916333" cy="928617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>
              <a:spcBef>
                <a:spcPts val="600"/>
              </a:spcBef>
            </a:pPr>
            <a:r>
              <a:rPr lang="en-US" dirty="0">
                <a:solidFill>
                  <a:schemeClr val="tx1"/>
                </a:solidFill>
                <a:latin typeface="Montserrat"/>
              </a:rPr>
              <a:t>USER_ID in Cortex views is a NUMBER. JOIN to SNOWFLAKE.ACCOUNT_USAGE.USERS for names. ~45 min latency on all views.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341947"/>
            <a:ext cx="10515600" cy="686435"/>
          </a:xfrm>
        </p:spPr>
        <p:txBody>
          <a:bodyPr/>
          <a:lstStyle/>
          <a:p>
            <a:r>
              <a:rPr sz="2800" b="1" dirty="0">
                <a:solidFill>
                  <a:srgbClr val="058DC7"/>
                </a:solidFill>
                <a:latin typeface="Montserrat"/>
              </a:rPr>
              <a:t>The Three FinOps Habits for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188720"/>
            <a:ext cx="3383280" cy="128016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058D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600" b="1" dirty="0">
                <a:solidFill>
                  <a:srgbClr val="058DC7"/>
                </a:solidFill>
                <a:latin typeface="Montserrat"/>
              </a:rPr>
              <a:t>ESTIMATE</a:t>
            </a:r>
            <a:endParaRPr lang="en-US" sz="1600" b="1" dirty="0">
              <a:solidFill>
                <a:srgbClr val="058DC7"/>
              </a:solidFill>
              <a:latin typeface="Montserrat"/>
            </a:endParaRPr>
          </a:p>
          <a:p>
            <a:pPr algn="ctr"/>
            <a:endParaRPr sz="1600" b="1" dirty="0">
              <a:solidFill>
                <a:srgbClr val="058DC7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Test on 10 rows. Project to full dataset. Decide.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206240" y="1188720"/>
            <a:ext cx="3383280" cy="128016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50B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600" b="1" dirty="0">
                <a:solidFill>
                  <a:srgbClr val="50B432"/>
                </a:solidFill>
                <a:latin typeface="Montserrat"/>
              </a:rPr>
              <a:t>MONITOR</a:t>
            </a:r>
            <a:endParaRPr lang="en-US" sz="1600" b="1" dirty="0">
              <a:solidFill>
                <a:srgbClr val="50B432"/>
              </a:solidFill>
              <a:latin typeface="Montserrat"/>
            </a:endParaRPr>
          </a:p>
          <a:p>
            <a:pPr algn="ctr"/>
            <a:endParaRPr sz="1600" b="1" dirty="0">
              <a:solidFill>
                <a:srgbClr val="50B432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Dashboard is your early warning system. Check weekly.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0" y="1188720"/>
            <a:ext cx="3383280" cy="1280160"/>
          </a:xfrm>
          <a:prstGeom prst="roundRect">
            <a:avLst/>
          </a:prstGeom>
          <a:solidFill>
            <a:srgbClr val="F3F3F3"/>
          </a:solidFill>
          <a:ln w="25400">
            <a:solidFill>
              <a:srgbClr val="ED561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37160" tIns="91440" rtlCol="0" anchor="ctr"/>
          <a:lstStyle/>
          <a:p>
            <a:pPr algn="ctr"/>
            <a:r>
              <a:rPr sz="1600" b="1" dirty="0">
                <a:solidFill>
                  <a:srgbClr val="ED561B"/>
                </a:solidFill>
                <a:latin typeface="Montserrat"/>
              </a:rPr>
              <a:t>CHOOSE</a:t>
            </a:r>
            <a:endParaRPr lang="en-US" sz="1600" b="1" dirty="0">
              <a:solidFill>
                <a:srgbClr val="ED561B"/>
              </a:solidFill>
              <a:latin typeface="Montserrat"/>
            </a:endParaRPr>
          </a:p>
          <a:p>
            <a:pPr algn="ctr"/>
            <a:endParaRPr sz="1600" b="1" dirty="0">
              <a:solidFill>
                <a:srgbClr val="ED561B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The cheapest model that meets your quality 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58DC7"/>
                </a:solidFill>
                <a:latin typeface="Montserrat"/>
              </a:defRPr>
            </a:pPr>
            <a:r>
              <a:rPr dirty="0"/>
              <a:t>AI Governance Principles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CC0000"/>
                </a:solidFill>
                <a:latin typeface="Montserrat"/>
              </a:rPr>
              <a:t>Credit Burn</a:t>
            </a:r>
            <a:endParaRPr lang="en-US" sz="1300" b="1" dirty="0">
              <a:solidFill>
                <a:srgbClr val="CC0000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CC0000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AI costs scale with data volume, not warehouse size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ED561B"/>
                </a:solidFill>
                <a:latin typeface="Montserrat"/>
              </a:rPr>
              <a:t>Behavior</a:t>
            </a:r>
            <a:endParaRPr lang="en-US" sz="1300" b="1" dirty="0">
              <a:solidFill>
                <a:srgbClr val="ED561B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ED561B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Model choice &amp; prompt design drive cost, not infra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058DC7"/>
                </a:solidFill>
                <a:latin typeface="Montserrat"/>
              </a:rPr>
              <a:t>Visibility</a:t>
            </a:r>
            <a:endParaRPr lang="en-US" sz="1300" b="1" dirty="0">
              <a:solidFill>
                <a:srgbClr val="058DC7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058DC7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Dedicated views, not </a:t>
            </a:r>
            <a:r>
              <a:rPr sz="1200" dirty="0" err="1">
                <a:solidFill>
                  <a:srgbClr val="333333"/>
                </a:solidFill>
                <a:latin typeface="Montserrat"/>
              </a:rPr>
              <a:t>query_history</a:t>
            </a:r>
            <a:r>
              <a:rPr sz="1200" dirty="0">
                <a:solidFill>
                  <a:srgbClr val="333333"/>
                </a:solidFill>
                <a:latin typeface="Montserrat"/>
              </a:rPr>
              <a:t>, for AI tracking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95360" y="3200400"/>
            <a:ext cx="2468880" cy="1645920"/>
          </a:xfrm>
          <a:prstGeom prst="roundRect">
            <a:avLst/>
          </a:prstGeom>
          <a:solidFill>
            <a:srgbClr val="F3F3F3"/>
          </a:solidFill>
          <a:ln w="1270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91440" rtlCol="0" anchor="ctr"/>
          <a:lstStyle/>
          <a:p>
            <a:pPr algn="ctr"/>
            <a:r>
              <a:rPr sz="1300" b="1" dirty="0">
                <a:solidFill>
                  <a:srgbClr val="50B432"/>
                </a:solidFill>
                <a:latin typeface="Montserrat"/>
              </a:rPr>
              <a:t>Signals</a:t>
            </a:r>
            <a:endParaRPr lang="en-US" sz="1300" b="1" dirty="0">
              <a:solidFill>
                <a:srgbClr val="50B432"/>
              </a:solidFill>
              <a:latin typeface="Montserrat"/>
            </a:endParaRPr>
          </a:p>
          <a:p>
            <a:pPr algn="ctr"/>
            <a:endParaRPr sz="1300" b="1" dirty="0">
              <a:solidFill>
                <a:srgbClr val="50B432"/>
              </a:solidFill>
              <a:latin typeface="Montserrat"/>
            </a:endParaRPr>
          </a:p>
          <a:p>
            <a:pPr algn="ctr"/>
            <a:r>
              <a:rPr sz="1200" dirty="0">
                <a:solidFill>
                  <a:srgbClr val="333333"/>
                </a:solidFill>
                <a:latin typeface="Montserrat"/>
              </a:rPr>
              <a:t>Shadow waste hides where traditional monitors can’t see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28E708-2D3B-4AA0-05BF-94A7AECEC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8F22FF4E-E6BB-D352-C5F5-F57967121AE8}"/>
              </a:ext>
            </a:extLst>
          </p:cNvPr>
          <p:cNvSpPr txBox="1"/>
          <p:nvPr/>
        </p:nvSpPr>
        <p:spPr>
          <a:xfrm>
            <a:off x="640080" y="365760"/>
            <a:ext cx="105156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  <a:latin typeface="Montserrat"/>
              </a:defRPr>
            </a:pPr>
            <a:r>
              <a:rPr dirty="0">
                <a:solidFill>
                  <a:schemeClr val="tx1"/>
                </a:solidFill>
              </a:rPr>
              <a:t>What You Built Today</a:t>
            </a:r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98C6899-D49A-A35F-0863-5C5D7CB1E31F}"/>
              </a:ext>
            </a:extLst>
          </p:cNvPr>
          <p:cNvSpPr/>
          <p:nvPr/>
        </p:nvSpPr>
        <p:spPr>
          <a:xfrm>
            <a:off x="1371600" y="1188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01-02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Token Economy &amp; Cortex AI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95CD2C9E-DE2F-F523-D17B-66C2BD96CC33}"/>
              </a:ext>
            </a:extLst>
          </p:cNvPr>
          <p:cNvSpPr/>
          <p:nvPr/>
        </p:nvSpPr>
        <p:spPr>
          <a:xfrm>
            <a:off x="4800600" y="1188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03-04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Environment &amp; Setup</a:t>
            </a:r>
          </a:p>
        </p:txBody>
      </p:sp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38411BE5-61EC-49E4-D659-A42FE39D2A3D}"/>
              </a:ext>
            </a:extLst>
          </p:cNvPr>
          <p:cNvSpPr/>
          <p:nvPr/>
        </p:nvSpPr>
        <p:spPr>
          <a:xfrm>
            <a:off x="8229600" y="1188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05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AI SQL Hands-On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9B5950EA-8AE6-7D22-0411-D64829ADF1DF}"/>
              </a:ext>
            </a:extLst>
          </p:cNvPr>
          <p:cNvSpPr/>
          <p:nvPr/>
        </p:nvSpPr>
        <p:spPr>
          <a:xfrm>
            <a:off x="1371600" y="2331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06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Cost Tracking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AE737FAF-1F28-ACCB-8794-FFBF3C352E26}"/>
              </a:ext>
            </a:extLst>
          </p:cNvPr>
          <p:cNvSpPr/>
          <p:nvPr/>
        </p:nvSpPr>
        <p:spPr>
          <a:xfrm>
            <a:off x="4800600" y="2331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07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AI Credits Transition</a:t>
            </a: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E5D7F26-9D48-7210-5A14-654CDA0A36DC}"/>
              </a:ext>
            </a:extLst>
          </p:cNvPr>
          <p:cNvSpPr/>
          <p:nvPr/>
        </p:nvSpPr>
        <p:spPr>
          <a:xfrm>
            <a:off x="8229600" y="2331720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08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FinOps Dashboard</a:t>
            </a:r>
          </a:p>
        </p:txBody>
      </p:sp>
      <p:sp>
        <p:nvSpPr>
          <p:cNvPr id="19" name="Rounded Rectangle 18">
            <a:extLst>
              <a:ext uri="{FF2B5EF4-FFF2-40B4-BE49-F238E27FC236}">
                <a16:creationId xmlns:a16="http://schemas.microsoft.com/office/drawing/2014/main" id="{187C7A8E-6743-A762-8A4F-F83784A69EDD}"/>
              </a:ext>
            </a:extLst>
          </p:cNvPr>
          <p:cNvSpPr/>
          <p:nvPr/>
        </p:nvSpPr>
        <p:spPr>
          <a:xfrm>
            <a:off x="4800600" y="3566161"/>
            <a:ext cx="3200400" cy="914400"/>
          </a:xfrm>
          <a:prstGeom prst="roundRect">
            <a:avLst/>
          </a:prstGeom>
          <a:solidFill>
            <a:srgbClr val="069ED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dirty="0">
                <a:solidFill>
                  <a:srgbClr val="B0E0FF"/>
                </a:solidFill>
                <a:latin typeface="Montserrat"/>
              </a:rPr>
              <a:t>09</a:t>
            </a:r>
          </a:p>
          <a:p>
            <a:pPr algn="ctr"/>
            <a:r>
              <a:rPr b="1" dirty="0">
                <a:solidFill>
                  <a:srgbClr val="FFFFFF"/>
                </a:solidFill>
                <a:latin typeface="Montserrat"/>
              </a:rPr>
              <a:t>Govern &amp; Scale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9B62BD-9168-6493-B668-01669CFA3896}"/>
              </a:ext>
            </a:extLst>
          </p:cNvPr>
          <p:cNvSpPr txBox="1"/>
          <p:nvPr/>
        </p:nvSpPr>
        <p:spPr>
          <a:xfrm>
            <a:off x="973667" y="4754881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ontserrat"/>
              </a:defRPr>
            </a:pPr>
            <a:r>
              <a:rPr sz="1500" dirty="0"/>
              <a:t>AI spend will grow. The teams who govern it now will be the ones who can afford to scale it later.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7C8A67-F7BF-4DC2-7967-62879E09D73C}"/>
              </a:ext>
            </a:extLst>
          </p:cNvPr>
          <p:cNvSpPr txBox="1"/>
          <p:nvPr/>
        </p:nvSpPr>
        <p:spPr>
          <a:xfrm>
            <a:off x="1126067" y="4907281"/>
            <a:ext cx="100584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FFFFFF"/>
                </a:solidFill>
                <a:latin typeface="Montserrat"/>
              </a:defRPr>
            </a:pPr>
            <a:r>
              <a:rPr sz="1500" dirty="0">
                <a:solidFill>
                  <a:schemeClr val="tx1"/>
                </a:solidFill>
              </a:rPr>
              <a:t>AI spend will grow. The teams who govern it now will be the ones who can afford to scale it later.</a:t>
            </a:r>
          </a:p>
        </p:txBody>
      </p:sp>
    </p:spTree>
    <p:extLst>
      <p:ext uri="{BB962C8B-B14F-4D97-AF65-F5344CB8AC3E}">
        <p14:creationId xmlns:p14="http://schemas.microsoft.com/office/powerpoint/2010/main" val="39099727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1481</Words>
  <Application>Microsoft Office PowerPoint</Application>
  <PresentationFormat>Widescreen</PresentationFormat>
  <Paragraphs>252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Courier New</vt:lpstr>
      <vt:lpstr>Montserrat</vt:lpstr>
      <vt:lpstr>Calibri</vt:lpstr>
      <vt:lpstr>Office Theme</vt:lpstr>
      <vt:lpstr>FinOps for Snowflake Cortex (AI)</vt:lpstr>
      <vt:lpstr>Workshop - https://tinyurl.com/4fhaeb68 </vt:lpstr>
      <vt:lpstr>Training Agenda</vt:lpstr>
      <vt:lpstr>AI Is Now a Cost Center</vt:lpstr>
      <vt:lpstr>Token Economics &amp; Shadow Waste</vt:lpstr>
      <vt:lpstr>Cortex AI Capability Map</vt:lpstr>
      <vt:lpstr>Model Cost Tiers</vt:lpstr>
      <vt:lpstr>Environment Setup</vt:lpstr>
      <vt:lpstr>AI SQL Hands-On Exercises</vt:lpstr>
      <vt:lpstr>Token &amp; Credit Usage Tracking</vt:lpstr>
      <vt:lpstr>AI Credits Transition</vt:lpstr>
      <vt:lpstr>Streamlit FinOps Dashboard</vt:lpstr>
      <vt:lpstr>PowerPoint Presentation</vt:lpstr>
      <vt:lpstr>Quick Reference: 5 ACCOUNT_USAGE Views</vt:lpstr>
      <vt:lpstr>The Three FinOps Habits for AI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VeluNat Arajan</cp:lastModifiedBy>
  <cp:revision>20</cp:revision>
  <dcterms:modified xsi:type="dcterms:W3CDTF">2026-05-01T13:25:59Z</dcterms:modified>
</cp:coreProperties>
</file>